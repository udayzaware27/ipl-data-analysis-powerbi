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3.xml" ContentType="application/vnd.openxmlformats-officedocument.presentationml.tags+xml"/>
  <Override PartName="/ppt/notesSlides/notesSlide1.xml" ContentType="application/vnd.openxmlformats-officedocument.presentationml.notesSlide+xml"/>
  <Override PartName="/ppt/tags/tag4.xml" ContentType="application/vnd.openxmlformats-officedocument.presentationml.tags+xml"/>
  <Override PartName="/ppt/notesSlides/notesSlide2.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4" r:id="rId2"/>
  </p:sldMasterIdLst>
  <p:notesMasterIdLst>
    <p:notesMasterId r:id="rId14"/>
  </p:notesMasterIdLst>
  <p:sldIdLst>
    <p:sldId id="256" r:id="rId3"/>
    <p:sldId id="571" r:id="rId4"/>
    <p:sldId id="572" r:id="rId5"/>
    <p:sldId id="573" r:id="rId6"/>
    <p:sldId id="574" r:id="rId7"/>
    <p:sldId id="575" r:id="rId8"/>
    <p:sldId id="576" r:id="rId9"/>
    <p:sldId id="577" r:id="rId10"/>
    <p:sldId id="579" r:id="rId11"/>
    <p:sldId id="578" r:id="rId12"/>
    <p:sldId id="536" r:id="rId13"/>
  </p:sldIdLst>
  <p:sldSz cx="12192000" cy="6858000"/>
  <p:notesSz cx="6858000" cy="9144000"/>
  <p:custDataLst>
    <p:tags r:id="rId1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72" userDrawn="1">
          <p15:clr>
            <a:srgbClr val="A4A3A4"/>
          </p15:clr>
        </p15:guide>
        <p15:guide id="2" pos="312" userDrawn="1">
          <p15:clr>
            <a:srgbClr val="A4A3A4"/>
          </p15:clr>
        </p15:guide>
        <p15:guide id="3" orient="horz" pos="91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B9636B-3D94-EB3D-7CF5-3935240F8C9F}" name="Ramar Bose" initials="RB" userId="S::ramar@edunetfoundation.org::ae727035-80f4-46a2-9b41-59f778a1b49a" providerId="AD"/>
  <p188:author id="{D0A8B7BB-36D1-777B-64C8-9A30C894A727}" name="Rashmi Mishra" initials="RM" userId="S::rmishra@edunetfoundation.org::6469e6c3-66fa-4f4f-9c10-a71ac4161bf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A751"/>
    <a:srgbClr val="263570"/>
    <a:srgbClr val="4A9DE2"/>
    <a:srgbClr val="88BFEC"/>
    <a:srgbClr val="F9B1B1"/>
    <a:srgbClr val="B2DE82"/>
    <a:srgbClr val="F57373"/>
    <a:srgbClr val="F03434"/>
    <a:srgbClr val="BC7D00"/>
    <a:srgbClr val="FFBC3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991EDE3-6B4F-4EB1-B760-8FD4051F695D}" v="415" dt="2026-03-15T08:51:24.71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73818" autoAdjust="0"/>
  </p:normalViewPr>
  <p:slideViewPr>
    <p:cSldViewPr snapToGrid="0" showGuides="1">
      <p:cViewPr varScale="1">
        <p:scale>
          <a:sx n="107" d="100"/>
          <a:sy n="107" d="100"/>
        </p:scale>
        <p:origin x="102" y="132"/>
      </p:cViewPr>
      <p:guideLst>
        <p:guide orient="horz" pos="672"/>
        <p:guide pos="312"/>
        <p:guide orient="horz" pos="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21" Type="http://schemas.microsoft.com/office/2018/10/relationships/authors" Target="author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ags" Target="tags/tag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99836-02B7-459A-AF64-A000817D576C}" type="datetimeFigureOut">
              <a:rPr lang="en-IN" smtClean="0"/>
              <a:t>15-03-2026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065E4E-ABE4-4C79-8716-B93932D5FBD3}"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065E4E-ABE4-4C79-8716-B93932D5FBD3}" type="slidenum">
              <a:rPr lang="en-IN" smtClean="0"/>
              <a:t>1</a:t>
            </a:fld>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cs typeface="Calibri" panose="020F0502020204030204"/>
            </a:endParaRPr>
          </a:p>
        </p:txBody>
      </p:sp>
      <p:sp>
        <p:nvSpPr>
          <p:cNvPr id="4" name="Slide Number Placeholder 3"/>
          <p:cNvSpPr>
            <a:spLocks noGrp="1"/>
          </p:cNvSpPr>
          <p:nvPr>
            <p:ph type="sldNum" sz="quarter" idx="5"/>
          </p:nvPr>
        </p:nvSpPr>
        <p:spPr/>
        <p:txBody>
          <a:bodyPr/>
          <a:lstStyle/>
          <a:p>
            <a:fld id="{F3065E4E-ABE4-4C79-8716-B93932D5FBD3}" type="slidenum">
              <a:rPr lang="en-IN" smtClean="0"/>
              <a:t>11</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B3FA99E-0146-4BD9-9E30-4EB71F3A4207}" type="datetimeFigureOut">
              <a:rPr lang="en-IN" smtClean="0"/>
              <a:t>15-03-2026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381918-31C6-44C6-A382-2FA557A3F6B9}"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3/15/2026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15/03/2026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p:cNvSpPr/>
          <p:nvPr userDrawn="1"/>
        </p:nvSpPr>
        <p:spPr>
          <a:xfrm>
            <a:off x="0" y="0"/>
            <a:ext cx="10374086" cy="6604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p:cNvSpPr/>
          <p:nvPr userDrawn="1"/>
        </p:nvSpPr>
        <p:spPr>
          <a:xfrm>
            <a:off x="0" y="6692900"/>
            <a:ext cx="12192000" cy="1651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descr="A black background with grey text&#10;&#10;AI-generated content may be incorrect."/>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465905" y="91005"/>
            <a:ext cx="1466678" cy="47838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3.xml"/><Relationship Id="rId5" Type="http://schemas.openxmlformats.org/officeDocument/2006/relationships/image" Target="../media/image2.jpe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hyperlink" Target="https://github.com/udayzaware27/IPL-Data-Analysis-PowerBI.git" TargetMode="Externa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32657" y="3429000"/>
            <a:ext cx="424543" cy="34290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p:cNvSpPr/>
          <p:nvPr/>
        </p:nvSpPr>
        <p:spPr>
          <a:xfrm>
            <a:off x="0" y="0"/>
            <a:ext cx="228600" cy="34290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7913913" y="0"/>
            <a:ext cx="4985657" cy="3156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32657" y="6509659"/>
            <a:ext cx="12888684" cy="348341"/>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A black background with grey text&#10;&#10;AI-generated content may be incorrect."/>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7304" y="316620"/>
            <a:ext cx="1725854" cy="5629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a:spLocks noGrp="1" noRot="1" noChangeAspect="1" noMove="1" noResize="1" noEditPoints="1" noAdjustHandles="1" noChangeArrowheads="1" noChangeShapeType="1" noTextEdit="1"/>
          </p:cNvSpPr>
          <p:nvPr/>
        </p:nvSpPr>
        <p:spPr bwMode="white">
          <a:xfrm>
            <a:off x="0" y="0"/>
            <a:ext cx="12191999" cy="68573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itle 1"/>
          <p:cNvSpPr>
            <a:spLocks noGrp="1"/>
          </p:cNvSpPr>
          <p:nvPr/>
        </p:nvSpPr>
        <p:spPr>
          <a:xfrm>
            <a:off x="392362" y="890616"/>
            <a:ext cx="4639617" cy="35723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kern="1200">
                <a:latin typeface="+mj-lt"/>
                <a:ea typeface="+mj-ea"/>
                <a:cs typeface="+mj-cs"/>
              </a:rPr>
              <a:t>CAPSTONE </a:t>
            </a:r>
            <a:r>
              <a:rPr lang="en-US" sz="2800" b="1"/>
              <a:t>PROJECT</a:t>
            </a:r>
            <a:br>
              <a:rPr lang="en-US" sz="5100" b="1" dirty="0"/>
            </a:br>
            <a:r>
              <a:rPr lang="en-US" sz="4000">
                <a:ea typeface="+mj-lt"/>
                <a:cs typeface="+mj-lt"/>
              </a:rPr>
              <a:t>IPL Data Analysis Dashboard using Power BI</a:t>
            </a:r>
            <a:endParaRPr lang="en-US" sz="4000">
              <a:latin typeface="Aptos"/>
            </a:endParaRPr>
          </a:p>
          <a:p>
            <a:pPr algn="l"/>
            <a:endParaRPr lang="en-US" sz="5100" dirty="0">
              <a:latin typeface="Aptos"/>
            </a:endParaRPr>
          </a:p>
          <a:p>
            <a:pPr algn="l"/>
            <a:endParaRPr lang="en-US" sz="5100" b="1" kern="1200" dirty="0"/>
          </a:p>
        </p:txBody>
      </p:sp>
      <p:sp>
        <p:nvSpPr>
          <p:cNvPr id="5" name="Subtitle 2"/>
          <p:cNvSpPr>
            <a:spLocks noGrp="1"/>
          </p:cNvSpPr>
          <p:nvPr/>
        </p:nvSpPr>
        <p:spPr>
          <a:xfrm>
            <a:off x="594127" y="3739889"/>
            <a:ext cx="4785635" cy="2451317"/>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Aft>
                <a:spcPts val="600"/>
              </a:spcAft>
            </a:pPr>
            <a:r>
              <a:rPr lang="en-US" sz="1600" b="1" cap="all"/>
              <a:t>Presented By</a:t>
            </a:r>
            <a:endParaRPr lang="en-US" sz="1600" cap="all"/>
          </a:p>
          <a:p>
            <a:pPr algn="l">
              <a:spcAft>
                <a:spcPts val="600"/>
              </a:spcAft>
            </a:pPr>
            <a:r>
              <a:rPr lang="en-US" sz="1600" b="1" cap="all" dirty="0"/>
              <a:t>Student Name: </a:t>
            </a:r>
            <a:r>
              <a:rPr lang="en-US" sz="1600" cap="all" dirty="0" err="1">
                <a:ea typeface="+mn-lt"/>
                <a:cs typeface="+mn-lt"/>
              </a:rPr>
              <a:t>Udaykumar</a:t>
            </a:r>
            <a:r>
              <a:rPr lang="en-US" sz="1600" cap="all" dirty="0">
                <a:ea typeface="+mn-lt"/>
                <a:cs typeface="+mn-lt"/>
              </a:rPr>
              <a:t> Nandkumar </a:t>
            </a:r>
            <a:r>
              <a:rPr lang="en-US" sz="1600" cap="all" dirty="0" err="1">
                <a:ea typeface="+mn-lt"/>
                <a:cs typeface="+mn-lt"/>
              </a:rPr>
              <a:t>Zaware</a:t>
            </a:r>
            <a:endParaRPr lang="en-US" sz="1600" cap="all">
              <a:ea typeface="+mn-lt"/>
              <a:cs typeface="+mn-lt"/>
            </a:endParaRPr>
          </a:p>
          <a:p>
            <a:pPr algn="l">
              <a:spcAft>
                <a:spcPts val="600"/>
              </a:spcAft>
            </a:pPr>
            <a:r>
              <a:rPr lang="en-US" sz="1600" b="1" cap="all" dirty="0"/>
              <a:t>College Name: </a:t>
            </a:r>
            <a:r>
              <a:rPr lang="en-US" sz="1600" cap="all" dirty="0"/>
              <a:t>MES </a:t>
            </a:r>
            <a:r>
              <a:rPr lang="en-US" sz="1600" cap="all" dirty="0" err="1"/>
              <a:t>wadia</a:t>
            </a:r>
            <a:r>
              <a:rPr lang="en-US" sz="1600" cap="all" dirty="0"/>
              <a:t> </a:t>
            </a:r>
            <a:r>
              <a:rPr lang="en-US" sz="1600" cap="all" dirty="0" err="1"/>
              <a:t>collEge</a:t>
            </a:r>
            <a:r>
              <a:rPr lang="en-US" sz="1600" cap="all" dirty="0"/>
              <a:t> of engineering</a:t>
            </a:r>
          </a:p>
          <a:p>
            <a:pPr algn="l">
              <a:spcAft>
                <a:spcPts val="600"/>
              </a:spcAft>
            </a:pPr>
            <a:r>
              <a:rPr lang="en-US" sz="1600" b="1" cap="all" dirty="0"/>
              <a:t>Department: </a:t>
            </a:r>
            <a:r>
              <a:rPr lang="en-US" sz="1600" cap="all" dirty="0"/>
              <a:t>Computer </a:t>
            </a:r>
            <a:r>
              <a:rPr lang="en-US" sz="1600" cap="all" dirty="0" err="1"/>
              <a:t>engneering</a:t>
            </a:r>
            <a:endParaRPr lang="en-US" sz="1600" cap="all" dirty="0"/>
          </a:p>
          <a:p>
            <a:pPr algn="l">
              <a:spcAft>
                <a:spcPts val="600"/>
              </a:spcAft>
            </a:pPr>
            <a:r>
              <a:rPr lang="en-US" sz="1600" b="1" cap="all" dirty="0"/>
              <a:t>Email ID: </a:t>
            </a:r>
            <a:r>
              <a:rPr lang="en-US" sz="1600" cap="all"/>
              <a:t>Udayzaware09@gmail.com</a:t>
            </a:r>
            <a:endParaRPr lang="en-US" sz="1600" cap="all" dirty="0"/>
          </a:p>
        </p:txBody>
      </p:sp>
      <p:sp>
        <p:nvSpPr>
          <p:cNvPr id="8" name="Rectangle 7"/>
          <p:cNvSpPr>
            <a:spLocks noGrp="1" noRot="1" noChangeAspect="1" noMove="1" noResize="1" noEditPoints="1" noAdjustHandles="1" noChangeArrowheads="1" noChangeShapeType="1" noTextEdit="1"/>
          </p:cNvSpPr>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9" name="Picture 8"/>
          <p:cNvPicPr>
            <a:picLocks noChangeAspect="1"/>
          </p:cNvPicPr>
          <p:nvPr/>
        </p:nvPicPr>
        <p:blipFill>
          <a:blip r:embed="rId5"/>
          <a:stretch>
            <a:fillRect/>
          </a:stretch>
        </p:blipFill>
        <p:spPr>
          <a:xfrm>
            <a:off x="6409990" y="963029"/>
            <a:ext cx="4590784" cy="4936489"/>
          </a:xfrm>
          <a:prstGeom prst="rect">
            <a:avLst/>
          </a:prstGeom>
        </p:spPr>
      </p:pic>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98500"/>
            <a:ext cx="10515600" cy="1325563"/>
          </a:xfrm>
        </p:spPr>
        <p:txBody>
          <a:bodyPr lIns="91440" tIns="45720" rIns="91440" bIns="45720" anchor="t">
            <a:normAutofit/>
          </a:bodyPr>
          <a:lstStyle/>
          <a:p>
            <a:r>
              <a:rPr lang="en-US" sz="5400" b="1" cap="all" dirty="0">
                <a:latin typeface="Arial" panose="020B0604020202020204"/>
                <a:cs typeface="Arial" panose="020B0604020202020204"/>
              </a:rPr>
              <a:t>OUTLINE:</a:t>
            </a:r>
            <a:endParaRPr lang="en-US" sz="5400" dirty="0"/>
          </a:p>
        </p:txBody>
      </p:sp>
      <p:sp>
        <p:nvSpPr>
          <p:cNvPr id="3" name="Content Placeholder 2"/>
          <p:cNvSpPr>
            <a:spLocks noGrp="1"/>
          </p:cNvSpPr>
          <p:nvPr>
            <p:ph idx="1"/>
          </p:nvPr>
        </p:nvSpPr>
        <p:spPr>
          <a:xfrm>
            <a:off x="433387" y="1822228"/>
            <a:ext cx="10515600" cy="4251960"/>
          </a:xfrm>
        </p:spPr>
        <p:txBody>
          <a:bodyPr vert="horz" lIns="91440" tIns="45720" rIns="91440" bIns="45720" rtlCol="0" anchor="t">
            <a:normAutofit/>
          </a:bodyPr>
          <a:lstStyle/>
          <a:p>
            <a:pPr marL="305435" indent="-305435">
              <a:spcBef>
                <a:spcPct val="20000"/>
              </a:spcBef>
              <a:spcAft>
                <a:spcPts val="600"/>
              </a:spcAft>
            </a:pPr>
            <a:r>
              <a:rPr lang="en-US" sz="2200" b="1">
                <a:latin typeface="Arial" panose="020B0604020202020204"/>
                <a:cs typeface="Arial" panose="020B0604020202020204"/>
              </a:rPr>
              <a:t>Problem Statement </a:t>
            </a:r>
            <a:endParaRPr lang="en-US" sz="2200">
              <a:latin typeface="Arial" panose="020B0604020202020204"/>
              <a:cs typeface="Arial" panose="020B0604020202020204"/>
            </a:endParaRPr>
          </a:p>
          <a:p>
            <a:pPr marL="305435" indent="-305435">
              <a:spcBef>
                <a:spcPct val="20000"/>
              </a:spcBef>
              <a:spcAft>
                <a:spcPts val="600"/>
              </a:spcAft>
            </a:pPr>
            <a:r>
              <a:rPr lang="en-US" sz="2200" b="1">
                <a:latin typeface="Arial" panose="020B0604020202020204"/>
                <a:cs typeface="Arial" panose="020B0604020202020204"/>
              </a:rPr>
              <a:t>Proposed System/Solution</a:t>
            </a:r>
            <a:endParaRPr lang="en-US" sz="2200">
              <a:latin typeface="Arial" panose="020B0604020202020204"/>
              <a:cs typeface="Arial" panose="020B0604020202020204"/>
            </a:endParaRPr>
          </a:p>
          <a:p>
            <a:pPr marL="305435" indent="-305435">
              <a:spcBef>
                <a:spcPct val="20000"/>
              </a:spcBef>
              <a:spcAft>
                <a:spcPts val="600"/>
              </a:spcAft>
            </a:pPr>
            <a:r>
              <a:rPr lang="en-US" sz="2200" b="1">
                <a:latin typeface="Arial" panose="020B0604020202020204"/>
                <a:cs typeface="Arial" panose="020B0604020202020204"/>
              </a:rPr>
              <a:t>System Development Approach </a:t>
            </a:r>
            <a:endParaRPr lang="en-US" sz="2200">
              <a:latin typeface="Arial" panose="020B0604020202020204"/>
              <a:cs typeface="Arial" panose="020B0604020202020204"/>
            </a:endParaRPr>
          </a:p>
          <a:p>
            <a:pPr marL="305435" indent="-305435">
              <a:spcBef>
                <a:spcPct val="20000"/>
              </a:spcBef>
              <a:spcAft>
                <a:spcPts val="600"/>
              </a:spcAft>
            </a:pPr>
            <a:r>
              <a:rPr lang="en-US" sz="2200" b="1">
                <a:latin typeface="Arial" panose="020B0604020202020204"/>
                <a:cs typeface="Arial" panose="020B0604020202020204"/>
              </a:rPr>
              <a:t>Algorithm &amp; Deployment  </a:t>
            </a:r>
            <a:endParaRPr lang="en-US" sz="2200">
              <a:latin typeface="Arial" panose="020B0604020202020204"/>
              <a:cs typeface="Arial" panose="020B0604020202020204"/>
            </a:endParaRPr>
          </a:p>
          <a:p>
            <a:pPr marL="305435" indent="-305435">
              <a:spcBef>
                <a:spcPct val="20000"/>
              </a:spcBef>
              <a:spcAft>
                <a:spcPts val="600"/>
              </a:spcAft>
            </a:pPr>
            <a:r>
              <a:rPr lang="en-US" sz="2200" b="1">
                <a:latin typeface="Arial" panose="020B0604020202020204"/>
                <a:cs typeface="Arial" panose="020B0604020202020204"/>
              </a:rPr>
              <a:t>Result (Output Image)</a:t>
            </a:r>
            <a:endParaRPr lang="en-US" sz="2200">
              <a:latin typeface="Arial" panose="020B0604020202020204"/>
              <a:cs typeface="Arial" panose="020B0604020202020204"/>
            </a:endParaRPr>
          </a:p>
          <a:p>
            <a:pPr marL="305435" indent="-305435">
              <a:spcBef>
                <a:spcPct val="20000"/>
              </a:spcBef>
              <a:spcAft>
                <a:spcPts val="600"/>
              </a:spcAft>
            </a:pPr>
            <a:r>
              <a:rPr lang="en-US" sz="2200" b="1">
                <a:latin typeface="Arial" panose="020B0604020202020204"/>
                <a:cs typeface="Arial" panose="020B0604020202020204"/>
              </a:rPr>
              <a:t>Conclusion</a:t>
            </a:r>
            <a:endParaRPr lang="en-US" sz="2200">
              <a:latin typeface="Arial" panose="020B0604020202020204"/>
              <a:cs typeface="Arial" panose="020B0604020202020204"/>
            </a:endParaRPr>
          </a:p>
          <a:p>
            <a:pPr marL="305435" indent="-305435">
              <a:spcBef>
                <a:spcPct val="20000"/>
              </a:spcBef>
              <a:spcAft>
                <a:spcPts val="600"/>
              </a:spcAft>
            </a:pPr>
            <a:r>
              <a:rPr lang="en-US" sz="2200" b="1">
                <a:latin typeface="Arial" panose="020B0604020202020204"/>
                <a:cs typeface="Arial" panose="020B0604020202020204"/>
              </a:rPr>
              <a:t>Future Scope</a:t>
            </a:r>
            <a:endParaRPr lang="en-US" sz="2200">
              <a:latin typeface="Arial" panose="020B0604020202020204"/>
              <a:cs typeface="Arial" panose="020B0604020202020204"/>
            </a:endParaRPr>
          </a:p>
          <a:p>
            <a:pPr marL="305435" indent="-305435">
              <a:spcBef>
                <a:spcPct val="20000"/>
              </a:spcBef>
              <a:spcAft>
                <a:spcPts val="600"/>
              </a:spcAft>
            </a:pPr>
            <a:r>
              <a:rPr lang="en-US" sz="2200" b="1">
                <a:latin typeface="Arial" panose="020B0604020202020204"/>
                <a:cs typeface="Arial" panose="020B0604020202020204"/>
              </a:rPr>
              <a:t>References</a:t>
            </a:r>
            <a:endParaRPr lang="en-US" sz="2200">
              <a:latin typeface="Arial" panose="020B0604020202020204"/>
              <a:cs typeface="Arial" panose="020B0604020202020204"/>
            </a:endParaRPr>
          </a:p>
          <a:p>
            <a:endParaRPr lang="en-GB" sz="2200">
              <a:latin typeface="Aptos"/>
              <a:cs typeface="Arial" panose="020B06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panose="020B0604020202020204"/>
                <a:cs typeface="Arial" panose="020B0604020202020204"/>
              </a:rPr>
              <a:t>Problem Statement:</a:t>
            </a:r>
            <a:endParaRPr lang="en-US" sz="4000"/>
          </a:p>
        </p:txBody>
      </p:sp>
      <p:sp>
        <p:nvSpPr>
          <p:cNvPr id="3" name="Content Placeholder 2"/>
          <p:cNvSpPr>
            <a:spLocks noGrp="1"/>
          </p:cNvSpPr>
          <p:nvPr>
            <p:ph idx="1"/>
          </p:nvPr>
        </p:nvSpPr>
        <p:spPr>
          <a:xfrm>
            <a:off x="290512" y="1715071"/>
            <a:ext cx="11158534" cy="4251960"/>
          </a:xfrm>
        </p:spPr>
        <p:txBody>
          <a:bodyPr vert="horz" lIns="91440" tIns="45720" rIns="91440" bIns="45720" rtlCol="0" anchor="t">
            <a:noAutofit/>
          </a:bodyPr>
          <a:lstStyle/>
          <a:p>
            <a:pPr marL="182880">
              <a:lnSpc>
                <a:spcPct val="100000"/>
              </a:lnSpc>
              <a:buNone/>
            </a:pPr>
            <a:r>
              <a:rPr lang="en-IN" sz="1800" dirty="0">
                <a:ea typeface="+mn-lt"/>
                <a:cs typeface="+mn-lt"/>
              </a:rPr>
              <a:t>The </a:t>
            </a:r>
            <a:r>
              <a:rPr lang="en-IN" sz="1800" b="1" dirty="0">
                <a:ea typeface="+mn-lt"/>
                <a:cs typeface="+mn-lt"/>
              </a:rPr>
              <a:t>Indian Premier League (IPL)</a:t>
            </a:r>
            <a:r>
              <a:rPr lang="en-IN" sz="1800" dirty="0">
                <a:ea typeface="+mn-lt"/>
                <a:cs typeface="+mn-lt"/>
              </a:rPr>
              <a:t> is one of the most popular cricket tournaments in the world. Each IPL </a:t>
            </a:r>
            <a:r>
              <a:rPr lang="en-IN" sz="1800">
                <a:ea typeface="+mn-lt"/>
                <a:cs typeface="+mn-lt"/>
              </a:rPr>
              <a:t>season</a:t>
            </a:r>
            <a:endParaRPr lang="en-US" sz="1800" dirty="0">
              <a:ea typeface="+mn-lt"/>
              <a:cs typeface="+mn-lt"/>
            </a:endParaRPr>
          </a:p>
          <a:p>
            <a:pPr marL="182880">
              <a:lnSpc>
                <a:spcPct val="100000"/>
              </a:lnSpc>
              <a:buNone/>
            </a:pPr>
            <a:r>
              <a:rPr lang="en-IN" sz="1800">
                <a:ea typeface="+mn-lt"/>
                <a:cs typeface="+mn-lt"/>
              </a:rPr>
              <a:t>generates a large amount of data including information about matches, teams, players, runs, wickets, venues,</a:t>
            </a:r>
            <a:endParaRPr lang="en-IN" sz="1800" dirty="0">
              <a:ea typeface="+mn-lt"/>
              <a:cs typeface="+mn-lt"/>
            </a:endParaRPr>
          </a:p>
          <a:p>
            <a:pPr marL="182880">
              <a:lnSpc>
                <a:spcPct val="100000"/>
              </a:lnSpc>
              <a:buNone/>
            </a:pPr>
            <a:r>
              <a:rPr lang="en-IN" sz="1800">
                <a:ea typeface="+mn-lt"/>
                <a:cs typeface="+mn-lt"/>
              </a:rPr>
              <a:t>and match outcomes.</a:t>
            </a:r>
            <a:endParaRPr lang="en-US" sz="1800">
              <a:ea typeface="+mn-lt"/>
              <a:cs typeface="+mn-lt"/>
            </a:endParaRPr>
          </a:p>
          <a:p>
            <a:pPr marL="182880">
              <a:lnSpc>
                <a:spcPct val="100000"/>
              </a:lnSpc>
              <a:buNone/>
            </a:pPr>
            <a:r>
              <a:rPr lang="en-IN" sz="1800" dirty="0" err="1">
                <a:ea typeface="+mn-lt"/>
                <a:cs typeface="+mn-lt"/>
              </a:rPr>
              <a:t>Analyzing</a:t>
            </a:r>
            <a:r>
              <a:rPr lang="en-IN" sz="1800" dirty="0">
                <a:ea typeface="+mn-lt"/>
                <a:cs typeface="+mn-lt"/>
              </a:rPr>
              <a:t> this large dataset manually is difficult and time consuming. It becomes challenging to identify </a:t>
            </a:r>
          </a:p>
          <a:p>
            <a:pPr marL="182880">
              <a:lnSpc>
                <a:spcPct val="100000"/>
              </a:lnSpc>
              <a:buNone/>
            </a:pPr>
            <a:r>
              <a:rPr lang="en-IN" sz="1800">
                <a:ea typeface="+mn-lt"/>
                <a:cs typeface="+mn-lt"/>
              </a:rPr>
              <a:t>patterns, trends, and important insights such as team  performance, top players, and match statistics.</a:t>
            </a:r>
            <a:endParaRPr lang="en-IN" sz="1800"/>
          </a:p>
          <a:p>
            <a:pPr marL="182880">
              <a:lnSpc>
                <a:spcPct val="100000"/>
              </a:lnSpc>
              <a:buNone/>
            </a:pPr>
            <a:r>
              <a:rPr lang="en-IN" sz="1800" dirty="0">
                <a:ea typeface="+mn-lt"/>
                <a:cs typeface="+mn-lt"/>
              </a:rPr>
              <a:t>Therefore, there is a need for a system that can efficiently </a:t>
            </a:r>
            <a:r>
              <a:rPr lang="en-IN" sz="1800" dirty="0" err="1">
                <a:ea typeface="+mn-lt"/>
                <a:cs typeface="+mn-lt"/>
              </a:rPr>
              <a:t>analyze</a:t>
            </a:r>
            <a:r>
              <a:rPr lang="en-IN" sz="1800" dirty="0">
                <a:ea typeface="+mn-lt"/>
                <a:cs typeface="+mn-lt"/>
              </a:rPr>
              <a:t> IPL data and present insights in a clear and</a:t>
            </a:r>
          </a:p>
          <a:p>
            <a:pPr marL="182880">
              <a:lnSpc>
                <a:spcPct val="100000"/>
              </a:lnSpc>
              <a:buNone/>
            </a:pPr>
            <a:r>
              <a:rPr lang="en-IN" sz="1800">
                <a:ea typeface="+mn-lt"/>
                <a:cs typeface="+mn-lt"/>
              </a:rPr>
              <a:t>interactive way.</a:t>
            </a:r>
            <a:endParaRPr lang="en-IN" sz="1800" dirty="0">
              <a:ea typeface="+mn-lt"/>
              <a:cs typeface="+mn-lt"/>
            </a:endParaRPr>
          </a:p>
          <a:p>
            <a:pPr marL="182880">
              <a:lnSpc>
                <a:spcPct val="100000"/>
              </a:lnSpc>
              <a:buNone/>
            </a:pPr>
            <a:r>
              <a:rPr lang="en-IN" sz="1800" dirty="0">
                <a:ea typeface="+mn-lt"/>
                <a:cs typeface="+mn-lt"/>
              </a:rPr>
              <a:t>The objective of this project is to analyze IPL historical data using data analytics tools and create an interactive</a:t>
            </a:r>
            <a:endParaRPr lang="en-US" sz="1800" dirty="0">
              <a:ea typeface="+mn-lt"/>
              <a:cs typeface="+mn-lt"/>
            </a:endParaRPr>
          </a:p>
          <a:p>
            <a:pPr marL="182880">
              <a:lnSpc>
                <a:spcPct val="100000"/>
              </a:lnSpc>
              <a:buNone/>
            </a:pPr>
            <a:r>
              <a:rPr lang="en-IN" sz="1800">
                <a:ea typeface="+mn-lt"/>
                <a:cs typeface="+mn-lt"/>
              </a:rPr>
              <a:t>dashboard that helps users easily understand important match statistics and trends.</a:t>
            </a:r>
            <a:endParaRPr lang="en-US" sz="1800" dirty="0">
              <a:ea typeface="+mn-lt"/>
              <a:cs typeface="+mn-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panose="020B0604020202020204"/>
                <a:cs typeface="Arial" panose="020B0604020202020204"/>
              </a:rPr>
              <a:t>Proposed Solution:</a:t>
            </a:r>
            <a:endParaRPr lang="en-US" sz="4000" dirty="0"/>
          </a:p>
        </p:txBody>
      </p:sp>
      <p:sp>
        <p:nvSpPr>
          <p:cNvPr id="3" name="Content Placeholder 2"/>
          <p:cNvSpPr>
            <a:spLocks noGrp="1"/>
          </p:cNvSpPr>
          <p:nvPr>
            <p:ph idx="1"/>
          </p:nvPr>
        </p:nvSpPr>
        <p:spPr>
          <a:xfrm>
            <a:off x="230981" y="1482900"/>
            <a:ext cx="10515600" cy="4251960"/>
          </a:xfrm>
        </p:spPr>
        <p:txBody>
          <a:bodyPr vert="horz" lIns="91440" tIns="45720" rIns="91440" bIns="45720" rtlCol="0" anchor="t">
            <a:noAutofit/>
          </a:bodyPr>
          <a:lstStyle/>
          <a:p>
            <a:pPr>
              <a:buFont typeface="Arial,Sans-Serif" panose="020B0604020202020204"/>
              <a:buChar char="•"/>
            </a:pPr>
            <a:r>
              <a:rPr lang="en-IN" sz="1800">
                <a:latin typeface="Arial"/>
                <a:ea typeface="Calibri" panose="020F0502020204030204"/>
                <a:cs typeface="Arial"/>
              </a:rPr>
              <a:t>The proposed solution is to build an </a:t>
            </a:r>
            <a:r>
              <a:rPr lang="en-IN" sz="1800" b="1">
                <a:latin typeface="Arial"/>
                <a:ea typeface="Calibri" panose="020F0502020204030204"/>
                <a:cs typeface="Arial"/>
              </a:rPr>
              <a:t>interactive IPL Data Analysis Dashboard using Microsoft Power BI</a:t>
            </a:r>
            <a:r>
              <a:rPr lang="en-IN" sz="1800">
                <a:latin typeface="Arial"/>
                <a:ea typeface="Calibri" panose="020F0502020204030204"/>
                <a:cs typeface="Arial"/>
              </a:rPr>
              <a:t>.</a:t>
            </a:r>
            <a:endParaRPr lang="en-US" sz="1800"/>
          </a:p>
          <a:p>
            <a:pPr>
              <a:buFont typeface="Arial" panose="020B0604020202020204"/>
              <a:buChar char="•"/>
            </a:pPr>
            <a:r>
              <a:rPr lang="en-IN" sz="1800">
                <a:latin typeface="Arial"/>
                <a:ea typeface="Calibri" panose="020F0502020204030204"/>
                <a:cs typeface="Arial"/>
              </a:rPr>
              <a:t>The system collects IPL datasets and processes them to generate meaningful insights. The dashboard visualizes various statistics related to teams, players, matches, and seasons.</a:t>
            </a:r>
            <a:endParaRPr lang="en-IN" sz="1800"/>
          </a:p>
          <a:p>
            <a:pPr>
              <a:buFont typeface="Arial" panose="020B0604020202020204"/>
              <a:buChar char="•"/>
            </a:pPr>
            <a:r>
              <a:rPr lang="en-IN" sz="1800">
                <a:latin typeface="Arial"/>
                <a:ea typeface="Calibri" panose="020F0502020204030204"/>
                <a:cs typeface="Arial"/>
              </a:rPr>
              <a:t>The proposed solution includes the following steps:</a:t>
            </a:r>
            <a:endParaRPr lang="en-IN" sz="1800"/>
          </a:p>
          <a:p>
            <a:pPr lvl="1">
              <a:buFont typeface="Arial" panose="020B0604020202020204"/>
              <a:buChar char="•"/>
            </a:pPr>
            <a:r>
              <a:rPr lang="en-IN" sz="1800" dirty="0">
                <a:latin typeface="Arial"/>
                <a:ea typeface="Calibri" panose="020F0502020204030204"/>
                <a:cs typeface="Arial"/>
              </a:rPr>
              <a:t>Collect IPL dataset containing match information and ball-by-ball data.</a:t>
            </a:r>
            <a:endParaRPr lang="en-IN" sz="1800"/>
          </a:p>
          <a:p>
            <a:pPr lvl="1">
              <a:buFont typeface="Arial" panose="020B0604020202020204"/>
              <a:buChar char="•"/>
            </a:pPr>
            <a:r>
              <a:rPr lang="en-IN" sz="1800">
                <a:latin typeface="Arial"/>
                <a:ea typeface="Calibri" panose="020F0502020204030204"/>
                <a:cs typeface="Arial"/>
              </a:rPr>
              <a:t>Import the dataset into Power BI for analysis.</a:t>
            </a:r>
            <a:endParaRPr lang="en-IN" sz="1800"/>
          </a:p>
          <a:p>
            <a:pPr lvl="1">
              <a:buFont typeface="Arial" panose="020B0604020202020204"/>
              <a:buChar char="•"/>
            </a:pPr>
            <a:r>
              <a:rPr lang="en-IN" sz="1800">
                <a:latin typeface="Arial"/>
                <a:ea typeface="Calibri" panose="020F0502020204030204"/>
                <a:cs typeface="Arial"/>
              </a:rPr>
              <a:t>Clean and preprocess the data to remove missing values and inconsistencies.</a:t>
            </a:r>
            <a:endParaRPr lang="en-IN" sz="1800"/>
          </a:p>
          <a:p>
            <a:pPr lvl="1">
              <a:buFont typeface="Arial" panose="020B0604020202020204"/>
              <a:buChar char="•"/>
            </a:pPr>
            <a:r>
              <a:rPr lang="en-IN" sz="1800" dirty="0">
                <a:latin typeface="Arial"/>
                <a:ea typeface="Calibri" panose="020F0502020204030204"/>
                <a:cs typeface="Arial"/>
              </a:rPr>
              <a:t>Create relationships between different tables to enable proper data </a:t>
            </a:r>
            <a:r>
              <a:rPr lang="en-IN" sz="1800" dirty="0" err="1">
                <a:latin typeface="Arial"/>
                <a:ea typeface="Calibri" panose="020F0502020204030204"/>
                <a:cs typeface="Arial"/>
              </a:rPr>
              <a:t>modeling</a:t>
            </a:r>
            <a:r>
              <a:rPr lang="en-IN" sz="1800" dirty="0">
                <a:latin typeface="Arial"/>
                <a:ea typeface="Calibri" panose="020F0502020204030204"/>
                <a:cs typeface="Arial"/>
              </a:rPr>
              <a:t>.</a:t>
            </a:r>
            <a:endParaRPr lang="en-IN" sz="1800"/>
          </a:p>
          <a:p>
            <a:pPr lvl="1">
              <a:buFont typeface="Arial" panose="020B0604020202020204"/>
              <a:buChar char="•"/>
            </a:pPr>
            <a:r>
              <a:rPr lang="en-IN" sz="1800">
                <a:latin typeface="Arial"/>
                <a:ea typeface="Calibri" panose="020F0502020204030204"/>
                <a:cs typeface="Arial"/>
              </a:rPr>
              <a:t>Use DAX measures to calculate important metrics such as total runs, matches, and wickets.</a:t>
            </a:r>
            <a:endParaRPr lang="en-IN" sz="1800"/>
          </a:p>
          <a:p>
            <a:pPr lvl="1">
              <a:buFont typeface="Arial" panose="020B0604020202020204"/>
              <a:buChar char="•"/>
            </a:pPr>
            <a:r>
              <a:rPr lang="en-IN" sz="1800">
                <a:latin typeface="Arial"/>
                <a:ea typeface="Calibri" panose="020F0502020204030204"/>
                <a:cs typeface="Arial"/>
              </a:rPr>
              <a:t>Create visualizations like bar charts, line charts, pie charts, and KPI cards.</a:t>
            </a:r>
            <a:endParaRPr lang="en-IN" sz="1800"/>
          </a:p>
          <a:p>
            <a:pPr lvl="1">
              <a:buFont typeface="Arial" panose="020B0604020202020204"/>
              <a:buChar char="•"/>
            </a:pPr>
            <a:r>
              <a:rPr lang="en-IN" sz="1800">
                <a:latin typeface="Arial"/>
                <a:ea typeface="Calibri" panose="020F0502020204030204"/>
                <a:cs typeface="Arial"/>
              </a:rPr>
              <a:t>Build an interactive dashboard with filters to explore the data easily.</a:t>
            </a:r>
            <a:endParaRPr lang="en-IN" sz="1800"/>
          </a:p>
          <a:p>
            <a:pPr lvl="1">
              <a:buFont typeface="Arial" panose="020B0604020202020204"/>
              <a:buChar char="•"/>
            </a:pPr>
            <a:r>
              <a:rPr lang="en-IN" sz="1800" dirty="0">
                <a:latin typeface="Arial"/>
                <a:ea typeface="Calibri" panose="020F0502020204030204"/>
                <a:cs typeface="Arial"/>
              </a:rPr>
              <a:t>This system helps users </a:t>
            </a:r>
            <a:r>
              <a:rPr lang="en-IN" sz="1800" dirty="0" err="1">
                <a:latin typeface="Arial"/>
                <a:ea typeface="Calibri" panose="020F0502020204030204"/>
                <a:cs typeface="Arial"/>
              </a:rPr>
              <a:t>analyze</a:t>
            </a:r>
            <a:r>
              <a:rPr lang="en-IN" sz="1800" dirty="0">
                <a:latin typeface="Arial"/>
                <a:ea typeface="Calibri" panose="020F0502020204030204"/>
                <a:cs typeface="Arial"/>
              </a:rPr>
              <a:t> IPL data efficiently and gain valuable insights.</a:t>
            </a:r>
            <a:endParaRPr lang="en-IN" sz="1800"/>
          </a:p>
          <a:p>
            <a:pPr>
              <a:buFont typeface="Arial,Sans-Serif" panose="020B0604020202020204"/>
              <a:buChar char="•"/>
            </a:pPr>
            <a:endParaRPr lang="en-GB"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99528"/>
            <a:ext cx="10515600" cy="1325563"/>
          </a:xfrm>
        </p:spPr>
        <p:txBody>
          <a:bodyPr lIns="91440" tIns="45720" rIns="91440" bIns="45720" anchor="t">
            <a:normAutofit/>
          </a:bodyPr>
          <a:lstStyle/>
          <a:p>
            <a:r>
              <a:rPr lang="en-US" sz="4000" b="1" cap="all">
                <a:latin typeface="Arial" panose="020B0604020202020204"/>
                <a:cs typeface="Arial" panose="020B0604020202020204"/>
              </a:rPr>
              <a:t>System  Approach:</a:t>
            </a:r>
            <a:endParaRPr lang="en-US" sz="4000" dirty="0"/>
          </a:p>
        </p:txBody>
      </p:sp>
      <p:sp>
        <p:nvSpPr>
          <p:cNvPr id="3" name="Content Placeholder 2"/>
          <p:cNvSpPr>
            <a:spLocks noGrp="1"/>
          </p:cNvSpPr>
          <p:nvPr>
            <p:ph idx="1"/>
          </p:nvPr>
        </p:nvSpPr>
        <p:spPr>
          <a:xfrm>
            <a:off x="317409" y="1715586"/>
            <a:ext cx="10515600" cy="4740116"/>
          </a:xfrm>
        </p:spPr>
        <p:txBody>
          <a:bodyPr vert="horz" lIns="91440" tIns="45720" rIns="91440" bIns="45720" rtlCol="0" anchor="t">
            <a:noAutofit/>
          </a:bodyPr>
          <a:lstStyle/>
          <a:p>
            <a:pPr>
              <a:buNone/>
            </a:pPr>
            <a:r>
              <a:rPr lang="en-IN" sz="1600">
                <a:ea typeface="+mn-lt"/>
                <a:cs typeface="+mn-lt"/>
              </a:rPr>
              <a:t>The system development approach involves several stages of data analysis and visualization.</a:t>
            </a:r>
            <a:endParaRPr lang="en-US" sz="1600"/>
          </a:p>
          <a:p>
            <a:pPr>
              <a:buNone/>
            </a:pPr>
            <a:r>
              <a:rPr lang="en-IN" sz="1600" b="1" dirty="0">
                <a:ea typeface="+mn-lt"/>
                <a:cs typeface="+mn-lt"/>
              </a:rPr>
              <a:t>1. Data Collection :</a:t>
            </a:r>
            <a:br>
              <a:rPr lang="en-IN" sz="1600" dirty="0">
                <a:ea typeface="+mn-lt"/>
                <a:cs typeface="+mn-lt"/>
              </a:rPr>
            </a:br>
            <a:r>
              <a:rPr lang="en-IN" sz="1600" dirty="0">
                <a:ea typeface="+mn-lt"/>
                <a:cs typeface="+mn-lt"/>
              </a:rPr>
              <a:t>The IPL dataset was collected from Kaggle. The dataset contains two main files: matches.csv and deliveries.csv which include match level data and ball-by-ball data respectively.</a:t>
            </a:r>
            <a:endParaRPr lang="en-IN" sz="1600"/>
          </a:p>
          <a:p>
            <a:pPr>
              <a:buNone/>
            </a:pPr>
            <a:r>
              <a:rPr lang="en-IN" sz="1600" b="1">
                <a:ea typeface="+mn-lt"/>
                <a:cs typeface="+mn-lt"/>
              </a:rPr>
              <a:t>2. Data Import :</a:t>
            </a:r>
            <a:br>
              <a:rPr lang="en-IN" sz="1600" dirty="0">
                <a:ea typeface="+mn-lt"/>
                <a:cs typeface="+mn-lt"/>
              </a:rPr>
            </a:br>
            <a:r>
              <a:rPr lang="en-IN" sz="1600">
                <a:ea typeface="+mn-lt"/>
                <a:cs typeface="+mn-lt"/>
              </a:rPr>
              <a:t>The dataset was imported into Microsoft Power BI using the CSV data import feature.</a:t>
            </a:r>
            <a:endParaRPr lang="en-US" sz="1600">
              <a:ea typeface="+mn-lt"/>
              <a:cs typeface="+mn-lt"/>
            </a:endParaRPr>
          </a:p>
          <a:p>
            <a:pPr>
              <a:buNone/>
            </a:pPr>
            <a:r>
              <a:rPr lang="en-IN" sz="1600" b="1">
                <a:ea typeface="+mn-lt"/>
                <a:cs typeface="+mn-lt"/>
              </a:rPr>
              <a:t>3. Data Cleaning :</a:t>
            </a:r>
            <a:br>
              <a:rPr lang="en-IN" sz="1600" dirty="0">
                <a:ea typeface="+mn-lt"/>
                <a:cs typeface="+mn-lt"/>
              </a:rPr>
            </a:br>
            <a:r>
              <a:rPr lang="en-IN" sz="1600">
                <a:ea typeface="+mn-lt"/>
                <a:cs typeface="+mn-lt"/>
              </a:rPr>
              <a:t>Data cleaning was performed to remove missing values and ensure data consistency.</a:t>
            </a:r>
            <a:endParaRPr lang="en-US" sz="1600"/>
          </a:p>
          <a:p>
            <a:pPr>
              <a:buNone/>
            </a:pPr>
            <a:r>
              <a:rPr lang="en-IN" sz="1600" b="1" dirty="0">
                <a:ea typeface="+mn-lt"/>
                <a:cs typeface="+mn-lt"/>
              </a:rPr>
              <a:t>4. Data </a:t>
            </a:r>
            <a:r>
              <a:rPr lang="en-IN" sz="1600" b="1" dirty="0" err="1">
                <a:ea typeface="+mn-lt"/>
                <a:cs typeface="+mn-lt"/>
              </a:rPr>
              <a:t>Modeling</a:t>
            </a:r>
            <a:r>
              <a:rPr lang="en-IN" sz="1600" b="1" dirty="0">
                <a:ea typeface="+mn-lt"/>
                <a:cs typeface="+mn-lt"/>
              </a:rPr>
              <a:t> :</a:t>
            </a:r>
            <a:br>
              <a:rPr lang="en-IN" sz="1600" dirty="0">
                <a:ea typeface="+mn-lt"/>
                <a:cs typeface="+mn-lt"/>
              </a:rPr>
            </a:br>
            <a:r>
              <a:rPr lang="en-IN" sz="1600" dirty="0">
                <a:ea typeface="+mn-lt"/>
                <a:cs typeface="+mn-lt"/>
              </a:rPr>
              <a:t>A relationship was created between the matches table and deliveries table using match ID to combine the datasets effectively.</a:t>
            </a:r>
            <a:endParaRPr lang="en-IN" sz="1600"/>
          </a:p>
          <a:p>
            <a:pPr>
              <a:buNone/>
            </a:pPr>
            <a:r>
              <a:rPr lang="en-IN" sz="1600" b="1">
                <a:ea typeface="+mn-lt"/>
                <a:cs typeface="+mn-lt"/>
              </a:rPr>
              <a:t>5. Data Analysis :</a:t>
            </a:r>
            <a:br>
              <a:rPr lang="en-IN" sz="1600" dirty="0">
                <a:ea typeface="+mn-lt"/>
                <a:cs typeface="+mn-lt"/>
              </a:rPr>
            </a:br>
            <a:r>
              <a:rPr lang="en-IN" sz="1600">
                <a:ea typeface="+mn-lt"/>
                <a:cs typeface="+mn-lt"/>
              </a:rPr>
              <a:t>DAX measures were created to calculate important statistics such as total runs, total matches, total wickets, and team performance.</a:t>
            </a:r>
            <a:endParaRPr lang="en-IN" sz="1600"/>
          </a:p>
          <a:p>
            <a:pPr>
              <a:buNone/>
            </a:pPr>
            <a:r>
              <a:rPr lang="en-IN" sz="1600" b="1">
                <a:ea typeface="+mn-lt"/>
                <a:cs typeface="+mn-lt"/>
              </a:rPr>
              <a:t>6. Data Visualization :</a:t>
            </a:r>
            <a:br>
              <a:rPr lang="en-IN" sz="1600" dirty="0">
                <a:ea typeface="+mn-lt"/>
                <a:cs typeface="+mn-lt"/>
              </a:rPr>
            </a:br>
            <a:r>
              <a:rPr lang="en-IN" sz="1600">
                <a:ea typeface="+mn-lt"/>
                <a:cs typeface="+mn-lt"/>
              </a:rPr>
              <a:t>Multiple visualizations were created including charts, KPI cards, and interactive filters to present insights clearly.</a:t>
            </a:r>
            <a:endParaRPr lang="en-IN" sz="1600"/>
          </a:p>
          <a:p>
            <a:pPr>
              <a:buFont typeface="Arial,Sans-Serif"/>
              <a:buChar char="•"/>
            </a:pPr>
            <a:endParaRPr lang="en-IN" sz="1800" dirty="0"/>
          </a:p>
          <a:p>
            <a:pPr marL="0" indent="0">
              <a:spcBef>
                <a:spcPct val="20000"/>
              </a:spcBef>
              <a:spcAft>
                <a:spcPts val="600"/>
              </a:spcAft>
              <a:buNone/>
            </a:pPr>
            <a:endParaRPr lang="en-IN" sz="1600" dirty="0">
              <a:latin typeface="Franklin Gothic Book"/>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panose="020B0604020202020204"/>
                <a:cs typeface="Arial" panose="020B0604020202020204"/>
              </a:rPr>
              <a:t>Algorithm &amp; Deployment:</a:t>
            </a:r>
            <a:endParaRPr lang="en-US" sz="4000" dirty="0"/>
          </a:p>
        </p:txBody>
      </p:sp>
      <p:sp>
        <p:nvSpPr>
          <p:cNvPr id="3" name="Content Placeholder 2"/>
          <p:cNvSpPr>
            <a:spLocks noGrp="1"/>
          </p:cNvSpPr>
          <p:nvPr>
            <p:ph idx="1"/>
          </p:nvPr>
        </p:nvSpPr>
        <p:spPr>
          <a:xfrm>
            <a:off x="266700" y="1572196"/>
            <a:ext cx="10515600" cy="4865131"/>
          </a:xfrm>
        </p:spPr>
        <p:txBody>
          <a:bodyPr vert="horz" lIns="91440" tIns="45720" rIns="91440" bIns="45720" rtlCol="0" anchor="t">
            <a:noAutofit/>
          </a:bodyPr>
          <a:lstStyle/>
          <a:p>
            <a:pPr>
              <a:buFont typeface="Arial,Sans-Serif" panose="020B0604020202020204"/>
              <a:buChar char="•"/>
            </a:pPr>
            <a:r>
              <a:rPr lang="en-IN" sz="1600" dirty="0">
                <a:latin typeface="Arial"/>
                <a:cs typeface="Arial"/>
              </a:rPr>
              <a:t>This project mainly uses </a:t>
            </a:r>
            <a:r>
              <a:rPr lang="en-IN" sz="1600" b="1" dirty="0">
                <a:latin typeface="Arial"/>
                <a:cs typeface="Arial"/>
              </a:rPr>
              <a:t>data analysis and visualization techniques</a:t>
            </a:r>
            <a:r>
              <a:rPr lang="en-IN" sz="1600" dirty="0">
                <a:latin typeface="Arial"/>
                <a:cs typeface="Arial"/>
              </a:rPr>
              <a:t> rather than complex machine learning algorithms.</a:t>
            </a:r>
            <a:endParaRPr lang="en-US" sz="1600">
              <a:latin typeface="Arial"/>
              <a:cs typeface="Arial"/>
            </a:endParaRPr>
          </a:p>
          <a:p>
            <a:pPr>
              <a:buFont typeface="Arial" panose="020B0604020202020204"/>
              <a:buChar char="•"/>
            </a:pPr>
            <a:r>
              <a:rPr lang="en-IN" sz="1600">
                <a:latin typeface="Arial"/>
                <a:cs typeface="Arial"/>
              </a:rPr>
              <a:t>The following techniques were used:</a:t>
            </a:r>
            <a:endParaRPr lang="en-IN" sz="1600" dirty="0">
              <a:latin typeface="Arial"/>
              <a:cs typeface="Arial"/>
            </a:endParaRPr>
          </a:p>
          <a:p>
            <a:pPr>
              <a:buFont typeface="Arial" panose="020B0604020202020204"/>
              <a:buChar char="•"/>
            </a:pPr>
            <a:r>
              <a:rPr lang="en-IN" sz="1600" b="1" dirty="0">
                <a:latin typeface="Arial"/>
                <a:cs typeface="Arial"/>
              </a:rPr>
              <a:t>Exploratory Data Analysis (EDA) :</a:t>
            </a:r>
            <a:br>
              <a:rPr lang="en-IN" sz="1600" b="1" dirty="0">
                <a:latin typeface="Arial"/>
                <a:cs typeface="Arial"/>
              </a:rPr>
            </a:br>
            <a:r>
              <a:rPr lang="en-IN" sz="1600" dirty="0">
                <a:latin typeface="Arial"/>
                <a:cs typeface="Arial"/>
              </a:rPr>
              <a:t>EDA was used to explore the dataset and identify patterns, trends, and relationships in IPL data.</a:t>
            </a:r>
          </a:p>
          <a:p>
            <a:pPr>
              <a:buFont typeface="Arial" panose="020B0604020202020204"/>
              <a:buChar char="•"/>
            </a:pPr>
            <a:r>
              <a:rPr lang="en-IN" sz="1600" b="1">
                <a:latin typeface="Arial"/>
                <a:cs typeface="Arial"/>
              </a:rPr>
              <a:t>Statistical Analysis :</a:t>
            </a:r>
            <a:br>
              <a:rPr lang="en-IN" sz="1600" b="1" dirty="0">
                <a:latin typeface="Arial"/>
                <a:cs typeface="Arial"/>
              </a:rPr>
            </a:br>
            <a:r>
              <a:rPr lang="en-IN" sz="1600">
                <a:latin typeface="Arial"/>
                <a:cs typeface="Arial"/>
              </a:rPr>
              <a:t>Basic statistical operations were used to calculate totals, counts, and averages for runs, wickets, and matches.</a:t>
            </a:r>
            <a:endParaRPr lang="en-IN" sz="1600" dirty="0">
              <a:latin typeface="Arial"/>
              <a:cs typeface="Arial"/>
            </a:endParaRPr>
          </a:p>
          <a:p>
            <a:pPr>
              <a:buFont typeface="Arial" panose="020B0604020202020204"/>
              <a:buChar char="•"/>
            </a:pPr>
            <a:r>
              <a:rPr lang="en-IN" sz="1600" b="1" dirty="0">
                <a:latin typeface="Arial"/>
                <a:cs typeface="Arial"/>
              </a:rPr>
              <a:t>Data Visualization :</a:t>
            </a:r>
            <a:br>
              <a:rPr lang="en-IN" sz="1600" b="1" dirty="0">
                <a:latin typeface="Arial"/>
                <a:cs typeface="Arial"/>
              </a:rPr>
            </a:br>
            <a:r>
              <a:rPr lang="en-IN" sz="1600" dirty="0">
                <a:latin typeface="Arial"/>
                <a:cs typeface="Arial"/>
              </a:rPr>
              <a:t>Different visualization techniques such as bar charts, line charts, pie charts, and KPI cards were used to represent the data effectively.</a:t>
            </a:r>
          </a:p>
          <a:p>
            <a:pPr>
              <a:buFont typeface="Arial" panose="020B0604020202020204"/>
              <a:buChar char="•"/>
            </a:pPr>
            <a:r>
              <a:rPr lang="en-IN" sz="1600" b="1">
                <a:latin typeface="Arial"/>
                <a:cs typeface="Arial"/>
              </a:rPr>
              <a:t>Tools Used</a:t>
            </a:r>
            <a:endParaRPr lang="en-IN" sz="1600"/>
          </a:p>
          <a:p>
            <a:pPr lvl="1">
              <a:buFont typeface="Arial" panose="020B0604020202020204"/>
              <a:buChar char="•"/>
            </a:pPr>
            <a:r>
              <a:rPr lang="en-IN" sz="1600">
                <a:latin typeface="Arial"/>
                <a:cs typeface="Arial"/>
              </a:rPr>
              <a:t>Microsoft Power BI</a:t>
            </a:r>
            <a:endParaRPr lang="en-IN" sz="1600"/>
          </a:p>
          <a:p>
            <a:pPr lvl="1">
              <a:buFont typeface="Arial" panose="020B0604020202020204"/>
              <a:buChar char="•"/>
            </a:pPr>
            <a:r>
              <a:rPr lang="en-IN" sz="1600">
                <a:latin typeface="Arial"/>
                <a:cs typeface="Arial"/>
              </a:rPr>
              <a:t>DAX (Data Analysis Expressions)</a:t>
            </a:r>
            <a:endParaRPr lang="en-IN" sz="1600"/>
          </a:p>
          <a:p>
            <a:pPr lvl="1">
              <a:buFont typeface="Arial" panose="020B0604020202020204"/>
              <a:buChar char="•"/>
            </a:pPr>
            <a:r>
              <a:rPr lang="en-IN" sz="1600">
                <a:latin typeface="Arial"/>
                <a:cs typeface="Arial"/>
              </a:rPr>
              <a:t>IPL Dataset from Kaggle</a:t>
            </a:r>
            <a:endParaRPr lang="en-IN" sz="1600"/>
          </a:p>
          <a:p>
            <a:pPr lvl="1">
              <a:buFont typeface="Arial" panose="020B0604020202020204"/>
              <a:buChar char="•"/>
            </a:pPr>
            <a:r>
              <a:rPr lang="en-IN" sz="1600">
                <a:latin typeface="Arial"/>
                <a:cs typeface="Arial"/>
              </a:rPr>
              <a:t>The final dashboard was deployed in Power BI Desktop where users can interact with the visualizations using filters and slicers.</a:t>
            </a:r>
            <a:endParaRPr lang="en-IN" sz="1600" dirty="0">
              <a:latin typeface="Arial"/>
              <a:cs typeface="Arial"/>
            </a:endParaRPr>
          </a:p>
          <a:p>
            <a:pPr marL="305435" indent="-305435">
              <a:spcBef>
                <a:spcPct val="20000"/>
              </a:spcBef>
              <a:spcAft>
                <a:spcPts val="600"/>
              </a:spcAft>
              <a:buFont typeface="Arial" panose="020B0604020202020204"/>
              <a:buChar char="•"/>
            </a:pPr>
            <a:endParaRPr lang="en-GB"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panose="020B0604020202020204"/>
                <a:cs typeface="Arial" panose="020B0604020202020204"/>
              </a:rPr>
              <a:t>Result:</a:t>
            </a:r>
            <a:endParaRPr lang="en-US" sz="4000" dirty="0"/>
          </a:p>
        </p:txBody>
      </p:sp>
      <p:sp>
        <p:nvSpPr>
          <p:cNvPr id="3" name="Content Placeholder 2"/>
          <p:cNvSpPr>
            <a:spLocks noGrp="1"/>
          </p:cNvSpPr>
          <p:nvPr>
            <p:ph idx="1"/>
          </p:nvPr>
        </p:nvSpPr>
        <p:spPr>
          <a:xfrm>
            <a:off x="338137" y="1584103"/>
            <a:ext cx="11283553" cy="5008006"/>
          </a:xfrm>
        </p:spPr>
        <p:txBody>
          <a:bodyPr vert="horz" lIns="91440" tIns="45720" rIns="91440" bIns="45720" rtlCol="0" anchor="t">
            <a:normAutofit/>
          </a:bodyPr>
          <a:lstStyle/>
          <a:p>
            <a:pPr>
              <a:buNone/>
            </a:pPr>
            <a:r>
              <a:rPr lang="en-IN" sz="1800" dirty="0">
                <a:ea typeface="+mn-lt"/>
                <a:cs typeface="+mn-lt"/>
              </a:rPr>
              <a:t>The developed Power BI dashboard successfully </a:t>
            </a:r>
            <a:r>
              <a:rPr lang="en-IN" sz="1800" dirty="0" err="1">
                <a:ea typeface="+mn-lt"/>
                <a:cs typeface="+mn-lt"/>
              </a:rPr>
              <a:t>analyzes</a:t>
            </a:r>
            <a:r>
              <a:rPr lang="en-IN" sz="1800" dirty="0">
                <a:ea typeface="+mn-lt"/>
                <a:cs typeface="+mn-lt"/>
              </a:rPr>
              <a:t> IPL match data and provides meaningful insights through interactive visualizations. The dashboard includes KPI cards, bar charts, line charts and pie charts to </a:t>
            </a:r>
            <a:r>
              <a:rPr lang="en-IN" sz="1800" dirty="0" err="1">
                <a:ea typeface="+mn-lt"/>
                <a:cs typeface="+mn-lt"/>
              </a:rPr>
              <a:t>analyze</a:t>
            </a:r>
            <a:r>
              <a:rPr lang="en-IN" sz="1800" dirty="0">
                <a:ea typeface="+mn-lt"/>
                <a:cs typeface="+mn-lt"/>
              </a:rPr>
              <a:t> team performance, player statistics and match trends.</a:t>
            </a:r>
            <a:endParaRPr lang="en-US" dirty="0">
              <a:ea typeface="+mn-lt"/>
              <a:cs typeface="+mn-lt"/>
            </a:endParaRPr>
          </a:p>
          <a:p>
            <a:pPr>
              <a:buNone/>
            </a:pPr>
            <a:r>
              <a:rPr lang="en-IN" sz="1800">
                <a:ea typeface="+mn-lt"/>
                <a:cs typeface="+mn-lt"/>
              </a:rPr>
              <a:t>From the analysis, it is observed that </a:t>
            </a:r>
            <a:r>
              <a:rPr lang="en-IN" sz="1800" b="1">
                <a:ea typeface="+mn-lt"/>
                <a:cs typeface="+mn-lt"/>
              </a:rPr>
              <a:t>Mumbai Indians have the highest number of match wins</a:t>
            </a:r>
            <a:r>
              <a:rPr lang="en-IN" sz="1800">
                <a:ea typeface="+mn-lt"/>
                <a:cs typeface="+mn-lt"/>
              </a:rPr>
              <a:t>, making them one of the most successful teams in IPL history. The player performance analysis shows that </a:t>
            </a:r>
            <a:r>
              <a:rPr lang="en-IN" sz="1800" b="1">
                <a:ea typeface="+mn-lt"/>
                <a:cs typeface="+mn-lt"/>
              </a:rPr>
              <a:t>Virat Kohli is the leading run scorer</a:t>
            </a:r>
            <a:r>
              <a:rPr lang="en-IN" sz="1800">
                <a:ea typeface="+mn-lt"/>
                <a:cs typeface="+mn-lt"/>
              </a:rPr>
              <a:t>, while bowlers like </a:t>
            </a:r>
            <a:r>
              <a:rPr lang="en-IN" sz="1800" b="1">
                <a:ea typeface="+mn-lt"/>
                <a:cs typeface="+mn-lt"/>
              </a:rPr>
              <a:t>Ravichandran Ashwin and Sunil Narine</a:t>
            </a:r>
            <a:r>
              <a:rPr lang="en-IN" sz="1800">
                <a:ea typeface="+mn-lt"/>
                <a:cs typeface="+mn-lt"/>
              </a:rPr>
              <a:t> appear among the top wicket takers.</a:t>
            </a:r>
            <a:endParaRPr lang="en-IN">
              <a:ea typeface="+mn-lt"/>
              <a:cs typeface="+mn-lt"/>
            </a:endParaRPr>
          </a:p>
          <a:p>
            <a:pPr>
              <a:buNone/>
            </a:pPr>
            <a:r>
              <a:rPr lang="en-IN" sz="1800" dirty="0">
                <a:ea typeface="+mn-lt"/>
                <a:cs typeface="+mn-lt"/>
              </a:rPr>
              <a:t>The toss decision analysis shows that most teams prefer </a:t>
            </a:r>
            <a:r>
              <a:rPr lang="en-IN" sz="1800" b="1" dirty="0">
                <a:ea typeface="+mn-lt"/>
                <a:cs typeface="+mn-lt"/>
              </a:rPr>
              <a:t>fielding first after winning the toss</a:t>
            </a:r>
            <a:r>
              <a:rPr lang="en-IN" sz="1800" dirty="0">
                <a:ea typeface="+mn-lt"/>
                <a:cs typeface="+mn-lt"/>
              </a:rPr>
              <a:t>, indicating that chasing is often advantageous. Season-wise analysis shows variations in the number of matches played each year.</a:t>
            </a:r>
            <a:endParaRPr lang="en-IN" dirty="0">
              <a:ea typeface="+mn-lt"/>
              <a:cs typeface="+mn-lt"/>
            </a:endParaRPr>
          </a:p>
          <a:p>
            <a:pPr>
              <a:buNone/>
            </a:pPr>
            <a:r>
              <a:rPr lang="en-IN" sz="1800">
                <a:ea typeface="+mn-lt"/>
                <a:cs typeface="+mn-lt"/>
              </a:rPr>
              <a:t>Overall, the dashboard provides a clear and interactive way to explore IPL statistics and performance trends.</a:t>
            </a:r>
            <a:endParaRPr lang="en-IN">
              <a:ea typeface="+mn-lt"/>
              <a:cs typeface="+mn-l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panose="020B0604020202020204"/>
                <a:cs typeface="Arial" panose="020B0604020202020204"/>
              </a:rPr>
              <a:t>Conclusion:</a:t>
            </a:r>
            <a:endParaRPr lang="en-US" sz="4000" dirty="0"/>
          </a:p>
        </p:txBody>
      </p:sp>
      <p:sp>
        <p:nvSpPr>
          <p:cNvPr id="3" name="Content Placeholder 2"/>
          <p:cNvSpPr>
            <a:spLocks noGrp="1"/>
          </p:cNvSpPr>
          <p:nvPr>
            <p:ph idx="1"/>
          </p:nvPr>
        </p:nvSpPr>
        <p:spPr>
          <a:xfrm>
            <a:off x="262589" y="1622391"/>
            <a:ext cx="11140678" cy="4251960"/>
          </a:xfrm>
        </p:spPr>
        <p:txBody>
          <a:bodyPr vert="horz" lIns="91440" tIns="45720" rIns="91440" bIns="45720" rtlCol="0" anchor="t">
            <a:normAutofit/>
          </a:bodyPr>
          <a:lstStyle/>
          <a:p>
            <a:pPr>
              <a:buNone/>
            </a:pPr>
            <a:r>
              <a:rPr lang="en-IN" sz="1800" dirty="0">
                <a:ea typeface="+mn-lt"/>
                <a:cs typeface="+mn-lt"/>
              </a:rPr>
              <a:t>The IPL Data Analysis Dashboard demonstrates how data analytics tools can transform large datasets into</a:t>
            </a:r>
            <a:endParaRPr lang="en-US" sz="1800">
              <a:ea typeface="+mn-lt"/>
              <a:cs typeface="+mn-lt"/>
            </a:endParaRPr>
          </a:p>
          <a:p>
            <a:pPr>
              <a:buNone/>
            </a:pPr>
            <a:r>
              <a:rPr lang="en-IN" sz="1800">
                <a:ea typeface="+mn-lt"/>
                <a:cs typeface="+mn-lt"/>
              </a:rPr>
              <a:t>meaningful insights.</a:t>
            </a:r>
            <a:endParaRPr lang="en-US" sz="1800"/>
          </a:p>
          <a:p>
            <a:pPr>
              <a:buNone/>
            </a:pPr>
            <a:r>
              <a:rPr lang="en-IN" sz="1800" dirty="0">
                <a:ea typeface="+mn-lt"/>
                <a:cs typeface="+mn-lt"/>
              </a:rPr>
              <a:t>Using Microsoft Power BI, the project successfully </a:t>
            </a:r>
            <a:r>
              <a:rPr lang="en-IN" sz="1800" dirty="0" err="1">
                <a:ea typeface="+mn-lt"/>
                <a:cs typeface="+mn-lt"/>
              </a:rPr>
              <a:t>analyzed</a:t>
            </a:r>
            <a:r>
              <a:rPr lang="en-IN" sz="1800" dirty="0">
                <a:ea typeface="+mn-lt"/>
                <a:cs typeface="+mn-lt"/>
              </a:rPr>
              <a:t> IPL match data and created an interactive </a:t>
            </a:r>
            <a:endParaRPr lang="en-IN">
              <a:ea typeface="+mn-lt"/>
              <a:cs typeface="+mn-lt"/>
            </a:endParaRPr>
          </a:p>
          <a:p>
            <a:pPr>
              <a:buNone/>
            </a:pPr>
            <a:r>
              <a:rPr lang="en-IN" sz="1800">
                <a:ea typeface="+mn-lt"/>
                <a:cs typeface="+mn-lt"/>
              </a:rPr>
              <a:t>dashboard to visualize important statistics.</a:t>
            </a:r>
            <a:endParaRPr lang="en-IN"/>
          </a:p>
          <a:p>
            <a:pPr>
              <a:buNone/>
            </a:pPr>
            <a:r>
              <a:rPr lang="en-IN" sz="1800">
                <a:ea typeface="+mn-lt"/>
                <a:cs typeface="+mn-lt"/>
              </a:rPr>
              <a:t>The dashboard allows users to easily explore IPL data and understand team performance, player achievements,</a:t>
            </a:r>
            <a:endParaRPr lang="en-IN" sz="1800" dirty="0">
              <a:ea typeface="+mn-lt"/>
              <a:cs typeface="+mn-lt"/>
            </a:endParaRPr>
          </a:p>
          <a:p>
            <a:pPr>
              <a:buNone/>
            </a:pPr>
            <a:r>
              <a:rPr lang="en-IN" sz="1800">
                <a:ea typeface="+mn-lt"/>
                <a:cs typeface="+mn-lt"/>
              </a:rPr>
              <a:t>and match patterns.</a:t>
            </a:r>
            <a:endParaRPr lang="en-IN" sz="1800" dirty="0">
              <a:ea typeface="+mn-lt"/>
              <a:cs typeface="+mn-lt"/>
            </a:endParaRPr>
          </a:p>
          <a:p>
            <a:pPr marL="0" indent="0">
              <a:buNone/>
            </a:pPr>
            <a:r>
              <a:rPr lang="en-IN" sz="1800">
                <a:ea typeface="+mn-lt"/>
                <a:cs typeface="+mn-lt"/>
              </a:rPr>
              <a:t>This project highlights the importance of data visualization in sports analytics and decision making.</a:t>
            </a:r>
            <a:endParaRPr lang="en-IN" sz="1800" dirty="0">
              <a:ea typeface="+mn-lt"/>
              <a:cs typeface="+mn-lt"/>
            </a:endParaRPr>
          </a:p>
          <a:p>
            <a:pPr marL="0" indent="0">
              <a:buNone/>
            </a:pPr>
            <a:r>
              <a:rPr lang="en-IN" sz="1800">
                <a:ea typeface="+mn-lt"/>
                <a:cs typeface="+mn-lt"/>
              </a:rPr>
              <a:t>The IPL Data Analysis Dashboard provides meaningful insights into team performance, player statistics and match trends. The analysis shows that teams often prefer chasing after winning the toss and highlights the consistent performance of top players such as Virat Kohli and leading bowlers like Ravichandran Ashwin.</a:t>
            </a:r>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panose="020B0604020202020204"/>
                <a:cs typeface="Arial" panose="020B0604020202020204"/>
              </a:rPr>
              <a:t>Future scope:</a:t>
            </a:r>
            <a:endParaRPr lang="en-US" sz="4000" dirty="0"/>
          </a:p>
        </p:txBody>
      </p:sp>
      <p:sp>
        <p:nvSpPr>
          <p:cNvPr id="3" name="Content Placeholder 2"/>
          <p:cNvSpPr>
            <a:spLocks noGrp="1"/>
          </p:cNvSpPr>
          <p:nvPr>
            <p:ph idx="1"/>
          </p:nvPr>
        </p:nvSpPr>
        <p:spPr>
          <a:xfrm>
            <a:off x="268071" y="1471121"/>
            <a:ext cx="10515600" cy="4251960"/>
          </a:xfrm>
        </p:spPr>
        <p:txBody>
          <a:bodyPr vert="horz" lIns="91440" tIns="45720" rIns="91440" bIns="45720" rtlCol="0" anchor="t">
            <a:normAutofit/>
          </a:bodyPr>
          <a:lstStyle/>
          <a:p>
            <a:pPr>
              <a:buNone/>
            </a:pPr>
            <a:r>
              <a:rPr lang="en-US" sz="2000">
                <a:ea typeface="+mn-lt"/>
                <a:cs typeface="+mn-lt"/>
              </a:rPr>
              <a:t>There are several possibilities to extend this project in the future.</a:t>
            </a:r>
            <a:endParaRPr lang="en-US" sz="2000"/>
          </a:p>
          <a:p>
            <a:pPr>
              <a:buNone/>
            </a:pPr>
            <a:r>
              <a:rPr lang="en-US" sz="2000">
                <a:ea typeface="+mn-lt"/>
                <a:cs typeface="+mn-lt"/>
              </a:rPr>
              <a:t>Machine learning models can be applied to predict match outcomes and player performance.</a:t>
            </a:r>
          </a:p>
          <a:p>
            <a:pPr>
              <a:buNone/>
            </a:pPr>
            <a:r>
              <a:rPr lang="en-US" sz="2000">
                <a:ea typeface="+mn-lt"/>
                <a:cs typeface="+mn-lt"/>
              </a:rPr>
              <a:t>Real-time IPL data can be integrated into the dashboard for live analysis during matches.</a:t>
            </a:r>
          </a:p>
          <a:p>
            <a:pPr>
              <a:buNone/>
            </a:pPr>
            <a:r>
              <a:rPr lang="en-US" sz="2000">
                <a:ea typeface="+mn-lt"/>
                <a:cs typeface="+mn-lt"/>
              </a:rPr>
              <a:t>Advanced analytics techniques can be used to analyze player performance in more detail.</a:t>
            </a:r>
            <a:endParaRPr lang="en-GB" sz="2000">
              <a:ea typeface="+mn-lt"/>
              <a:cs typeface="+mn-lt"/>
            </a:endParaRPr>
          </a:p>
          <a:p>
            <a:pPr marL="0" indent="0">
              <a:spcBef>
                <a:spcPct val="20000"/>
              </a:spcBef>
              <a:spcAft>
                <a:spcPts val="600"/>
              </a:spcAft>
              <a:buNone/>
            </a:pPr>
            <a:r>
              <a:rPr lang="en-US" sz="2000">
                <a:ea typeface="+mn-lt"/>
                <a:cs typeface="+mn-lt"/>
              </a:rPr>
              <a:t>The dashboard can also be deployed online so that users can access IPL analytics through web applications.</a:t>
            </a:r>
            <a:endParaRPr lang="en-GB" sz="20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panose="020B0604020202020204"/>
                <a:cs typeface="Arial" panose="020B0604020202020204"/>
              </a:rPr>
              <a:t>References:</a:t>
            </a:r>
            <a:endParaRPr lang="en-US" sz="4000"/>
          </a:p>
        </p:txBody>
      </p:sp>
      <p:sp>
        <p:nvSpPr>
          <p:cNvPr id="3" name="Content Placeholder 2"/>
          <p:cNvSpPr>
            <a:spLocks noGrp="1"/>
          </p:cNvSpPr>
          <p:nvPr>
            <p:ph idx="1"/>
          </p:nvPr>
        </p:nvSpPr>
        <p:spPr>
          <a:xfrm>
            <a:off x="196804" y="1551125"/>
            <a:ext cx="10515600" cy="4251960"/>
          </a:xfrm>
        </p:spPr>
        <p:txBody>
          <a:bodyPr vert="horz" lIns="91440" tIns="45720" rIns="91440" bIns="45720" rtlCol="0" anchor="t">
            <a:normAutofit/>
          </a:bodyPr>
          <a:lstStyle/>
          <a:p>
            <a:pPr>
              <a:buNone/>
            </a:pPr>
            <a:r>
              <a:rPr lang="en-IN" sz="2200">
                <a:ea typeface="+mn-lt"/>
                <a:cs typeface="+mn-lt"/>
              </a:rPr>
              <a:t>The following resources were used for this project:</a:t>
            </a:r>
            <a:endParaRPr lang="en-US"/>
          </a:p>
          <a:p>
            <a:pPr>
              <a:buFont typeface="Arial"/>
              <a:buChar char="•"/>
            </a:pPr>
            <a:r>
              <a:rPr lang="en-IN" sz="2200">
                <a:ea typeface="+mn-lt"/>
                <a:cs typeface="+mn-lt"/>
              </a:rPr>
              <a:t>Kaggle IPL Dataset</a:t>
            </a:r>
            <a:endParaRPr lang="en-IN"/>
          </a:p>
          <a:p>
            <a:pPr>
              <a:buFont typeface="Arial"/>
              <a:buChar char="•"/>
            </a:pPr>
            <a:r>
              <a:rPr lang="en-IN" sz="2200">
                <a:ea typeface="+mn-lt"/>
                <a:cs typeface="+mn-lt"/>
              </a:rPr>
              <a:t>Microsoft Power BI Documentation</a:t>
            </a:r>
            <a:endParaRPr lang="en-IN"/>
          </a:p>
          <a:p>
            <a:pPr marL="0" indent="0">
              <a:buFont typeface="Arial"/>
              <a:buChar char="•"/>
            </a:pPr>
            <a:r>
              <a:rPr lang="en-IN" sz="2200">
                <a:ea typeface="+mn-lt"/>
                <a:cs typeface="+mn-lt"/>
              </a:rPr>
              <a:t>  Data Analytics Tutorials and Online Resources</a:t>
            </a:r>
            <a:endParaRPr lang="en-US"/>
          </a:p>
          <a:p>
            <a:pPr marL="0" indent="0">
              <a:buNone/>
            </a:pPr>
            <a:r>
              <a:rPr lang="en-IN" sz="2200">
                <a:latin typeface="Franklin Gothic Book" panose="020B0503020102020204"/>
              </a:rPr>
              <a:t>GitHub Link: </a:t>
            </a:r>
            <a:r>
              <a:rPr lang="en-IN" sz="2200" dirty="0">
                <a:latin typeface="Aptos"/>
                <a:hlinkClick r:id="rId2"/>
              </a:rPr>
              <a:t>https://github.com/udayzaware27/IPL-Data-Analysis-PowerBI.git</a:t>
            </a:r>
            <a:endParaRPr lang="en-IN" sz="2200">
              <a:latin typeface="Aptos"/>
            </a:endParaRPr>
          </a:p>
          <a:p>
            <a:pPr marL="0" indent="0">
              <a:buNone/>
            </a:pPr>
            <a:endParaRPr lang="en-IN" sz="2200" u="sng" dirty="0">
              <a:latin typeface="Franklin Gothic Book" panose="020B0503020102020204"/>
            </a:endParaRPr>
          </a:p>
          <a:p>
            <a:pPr marL="0" indent="0">
              <a:buNone/>
            </a:pPr>
            <a:endParaRPr lang="en-IN" sz="2200" dirty="0">
              <a:latin typeface="Franklin Gothic Book" panose="020B050302010202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4"/>
          <p:cNvSpPr txBox="1"/>
          <p:nvPr/>
        </p:nvSpPr>
        <p:spPr>
          <a:xfrm>
            <a:off x="314324" y="6312352"/>
            <a:ext cx="3724275" cy="295275"/>
          </a:xfrm>
          <a:prstGeom prst="rect">
            <a:avLst/>
          </a:prstGeom>
        </p:spPr>
        <p:txBody>
          <a:bodyPr/>
          <a:lstStyle>
            <a:lvl1pPr marL="228600" indent="-228600" algn="l" defTabSz="609600" rtl="0" eaLnBrk="1" latinLnBrk="0" hangingPunct="1">
              <a:spcBef>
                <a:spcPct val="20000"/>
              </a:spcBef>
              <a:buFont typeface="Arial" panose="020B0604020202020204" pitchFamily="34" charset="0"/>
              <a:buChar char="•"/>
              <a:defRPr sz="2135" kern="1200">
                <a:solidFill>
                  <a:schemeClr val="tx1"/>
                </a:solidFill>
                <a:latin typeface="+mn-lt"/>
                <a:ea typeface="+mn-ea"/>
                <a:cs typeface="+mn-cs"/>
              </a:defRPr>
            </a:lvl1pPr>
            <a:lvl2pPr marL="495300" indent="-190500" algn="l" defTabSz="609600" rtl="0" eaLnBrk="1" latinLnBrk="0" hangingPunct="1">
              <a:spcBef>
                <a:spcPct val="20000"/>
              </a:spcBef>
              <a:buFont typeface="Arial" panose="020B0604020202020204" pitchFamily="34" charset="0"/>
              <a:buChar char="–"/>
              <a:defRPr sz="1865" kern="1200">
                <a:solidFill>
                  <a:schemeClr val="tx1"/>
                </a:solidFill>
                <a:latin typeface="+mn-lt"/>
                <a:ea typeface="+mn-ea"/>
                <a:cs typeface="+mn-cs"/>
              </a:defRPr>
            </a:lvl2pPr>
            <a:lvl3pPr marL="762000" indent="-152400" algn="l" defTabSz="6096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3pPr>
            <a:lvl4pPr marL="10668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4pPr>
            <a:lvl5pPr marL="13716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5pPr>
            <a:lvl6pPr marL="16764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6pPr>
            <a:lvl7pPr marL="19812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7pPr>
            <a:lvl8pPr marL="22860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8pPr>
            <a:lvl9pPr marL="25908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9pPr>
          </a:lstStyle>
          <a:p>
            <a:pPr marL="173990" indent="-173990">
              <a:buFont typeface="Arial" panose="020B0604020202020204" pitchFamily="34" charset="0"/>
              <a:buNone/>
            </a:pPr>
            <a:endParaRPr lang="en-US" sz="1400">
              <a:latin typeface="Arial" panose="020B0604020202020204" pitchFamily="34" charset="0"/>
              <a:cs typeface="Arial" panose="020B0604020202020204" pitchFamily="34" charset="0"/>
            </a:endParaRPr>
          </a:p>
        </p:txBody>
      </p:sp>
      <p:sp>
        <p:nvSpPr>
          <p:cNvPr id="2" name="Title 3"/>
          <p:cNvSpPr txBox="1"/>
          <p:nvPr/>
        </p:nvSpPr>
        <p:spPr>
          <a:xfrm>
            <a:off x="3247621" y="3009471"/>
            <a:ext cx="5696757" cy="839057"/>
          </a:xfrm>
          <a:prstGeom prst="rect">
            <a:avLst/>
          </a:prstGeom>
        </p:spPr>
        <p:txBody>
          <a:bodyPr lIns="91440" tIns="45720" rIns="91440" bIns="45720" anchor="t"/>
          <a:lstStyle>
            <a:lvl1pPr algn="ctr" defTabSz="609600" rtl="0" eaLnBrk="1" latinLnBrk="0" hangingPunct="1">
              <a:spcBef>
                <a:spcPct val="0"/>
              </a:spcBef>
              <a:buNone/>
              <a:defRPr sz="2935" kern="1200">
                <a:solidFill>
                  <a:schemeClr val="tx1"/>
                </a:solidFill>
                <a:latin typeface="+mj-lt"/>
                <a:ea typeface="+mj-ea"/>
                <a:cs typeface="+mj-cs"/>
              </a:defRPr>
            </a:lvl1pPr>
          </a:lstStyle>
          <a:p>
            <a:r>
              <a:rPr lang="en-US" sz="4800" b="1">
                <a:solidFill>
                  <a:srgbClr val="002060"/>
                </a:solidFill>
                <a:latin typeface="Arial" panose="020B0604020202020204"/>
                <a:cs typeface="Arial" panose="020B0604020202020204"/>
              </a:rPr>
              <a:t>Thank You</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OFFICE THEME" val="TmdBxN3j"/>
  <p:tag name="ARTICULATE_PROJECT_OPEN" val="0"/>
  <p:tag name="ARTICULATE_SLIDE_COUNT" val="9"/>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4147</Words>
  <Application>Microsoft Office PowerPoint</Application>
  <PresentationFormat>Widescreen</PresentationFormat>
  <Paragraphs>80</Paragraphs>
  <Slides>11</Slides>
  <Notes>2</Notes>
  <HiddenSlides>0</HiddenSlides>
  <MMClips>0</MMClips>
  <ScaleCrop>false</ScaleCrop>
  <HeadingPairs>
    <vt:vector size="4" baseType="variant">
      <vt:variant>
        <vt:lpstr>Theme</vt:lpstr>
      </vt:variant>
      <vt:variant>
        <vt:i4>2</vt:i4>
      </vt:variant>
      <vt:variant>
        <vt:lpstr>Slide Titles</vt:lpstr>
      </vt:variant>
      <vt:variant>
        <vt:i4>11</vt:i4>
      </vt:variant>
    </vt:vector>
  </HeadingPairs>
  <TitlesOfParts>
    <vt:vector size="13" baseType="lpstr">
      <vt:lpstr>1_Office Theme</vt:lpstr>
      <vt:lpstr>Custom Design</vt:lpstr>
      <vt:lpstr>PowerPoint Presentation</vt:lpstr>
      <vt:lpstr>OUTLINE:</vt:lpstr>
      <vt:lpstr>Problem Statement:</vt:lpstr>
      <vt:lpstr>Proposed Solution:</vt:lpstr>
      <vt:lpstr>System  Approach:</vt:lpstr>
      <vt:lpstr>Algorithm &amp; Deployment:</vt:lpstr>
      <vt:lpstr>Result:</vt:lpstr>
      <vt:lpstr>Conclusion:</vt:lpstr>
      <vt:lpstr>Future scope:</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Vikrant Nath Nagar</dc:creator>
  <cp:lastModifiedBy>vignsh_vky</cp:lastModifiedBy>
  <cp:revision>286</cp:revision>
  <dcterms:created xsi:type="dcterms:W3CDTF">2024-05-21T11:55:00Z</dcterms:created>
  <dcterms:modified xsi:type="dcterms:W3CDTF">2026-03-15T08:51:39Z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8775663C-0243-495A-BCAB-F653BDE41EC7</vt:lpwstr>
  </property>
  <property fmtid="{D5CDD505-2E9C-101B-9397-08002B2CF9AE}" pid="3" name="ArticulatePath">
    <vt:lpwstr>https://edunetfoundationorg-my.sharepoint.com/personal/kaisar_edunetfoundation_org/Documents/Beutified ppt/MSITI/Micro Degree/Content/Module 4 Data Science/PPT/1. Introduction to Data Science</vt:lpwstr>
  </property>
  <property fmtid="{D5CDD505-2E9C-101B-9397-08002B2CF9AE}" pid="4" name="ICV">
    <vt:lpwstr>EE4E1345D65D4F85A477FE2A1A549664_12</vt:lpwstr>
  </property>
  <property fmtid="{D5CDD505-2E9C-101B-9397-08002B2CF9AE}" pid="5" name="KSOProductBuildVer">
    <vt:lpwstr>1033-12.2.0.23155</vt:lpwstr>
  </property>
</Properties>
</file>